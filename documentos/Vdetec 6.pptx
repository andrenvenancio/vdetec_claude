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3" r:id="rId12"/>
  </p:sldIdLst>
  <p:sldSz cx="14630400" cy="8229600"/>
  <p:notesSz cx="82296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4F8"/>
    <a:srgbClr val="F8F0F8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C209BF-BED3-9EB4-1604-C60C8BC0AC96}" v="4" dt="2026-03-11T19:59:52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1061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uiz Farias Novaes" userId="S::andre.novaes@venancio.com.br::5508afbf-0a95-4f16-889d-fa5cd0b42915" providerId="AD" clId="Web-{B4C209BF-BED3-9EB4-1604-C60C8BC0AC96}"/>
    <pc:docChg chg="sldOrd">
      <pc:chgData name="Andre Luiz Farias Novaes" userId="S::andre.novaes@venancio.com.br::5508afbf-0a95-4f16-889d-fa5cd0b42915" providerId="AD" clId="Web-{B4C209BF-BED3-9EB4-1604-C60C8BC0AC96}" dt="2026-03-11T19:59:52.091" v="3"/>
      <pc:docMkLst>
        <pc:docMk/>
      </pc:docMkLst>
      <pc:sldChg chg="ord">
        <pc:chgData name="Andre Luiz Farias Novaes" userId="S::andre.novaes@venancio.com.br::5508afbf-0a95-4f16-889d-fa5cd0b42915" providerId="AD" clId="Web-{B4C209BF-BED3-9EB4-1604-C60C8BC0AC96}" dt="2026-03-11T19:59:52.091" v="3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98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5D6A-C130-A972-29C2-88AE7C89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CEEEC5-A60B-3CFB-2244-2FC0F1B0E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330B5-8A4B-2311-62D2-D558C836D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B32BE-1874-94BB-7015-3C32733A4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05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0F05C-A383-BDB2-75FE-B647F61A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658FA-4D61-B4F9-7E97-EC740FA76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F16D-B1F6-0697-E92C-2BA07E952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5891E-35CD-E2A1-0DB0-9A23B3E5F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16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F943B-A89C-32D9-63FA-E209CD81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24A07-66FF-6CC0-9360-1E4B91BE9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10F4D-EA00-EAB8-70BD-9416A2D0E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BAEF-C9CC-BD93-E921-71C7316B3F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53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54ED-B284-2EB3-DC2D-F9CE20E1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57F12-78D5-0845-0DAF-CCDF26B3F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CFAB7-83C4-1D38-09D5-040726A00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268EE-5357-D9AA-B249-62243610AE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72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jpeg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jpg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Vdetec</a:t>
            </a:r>
            <a:endParaRPr lang="en-US" sz="4450" dirty="0">
              <a:latin typeface="Aptos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Sistema de IA para avaliação automática da aderência ao planograma nas lojas 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759873F-262B-E127-D2C1-75B813FB7843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761762"/>
            <a:ext cx="238208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16278" y="829747"/>
            <a:ext cx="21099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DESAFIO OPERACIONAL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12787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O Problema Atual</a:t>
            </a:r>
            <a:endParaRPr lang="en-US" sz="4450" dirty="0">
              <a:latin typeface="Aptos" panose="020B00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80190" y="2327672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49710" y="2327672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28924" y="2584966"/>
            <a:ext cx="3051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Falta de Padronização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28924" y="3075384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Avaliações </a:t>
            </a:r>
            <a:r>
              <a:rPr lang="en-US" sz="175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manuais</a:t>
            </a: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variam</a:t>
            </a: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, gerando inconsistência na execução do planograma.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71748" y="2327672"/>
            <a:ext cx="3664863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141268" y="2327672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520482" y="2584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Baixa Visibilidade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520482" y="3075384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Dificuldade de monitorar em tempo real o estado das gôndolas em todas as lojas.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80190" y="5011103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9710" y="5011103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628924" y="5268397"/>
            <a:ext cx="28459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Auditorias Limitadas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28924" y="5758815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Dependência de visitas presenciais torna o processo lento e pouco escalável.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C42AD5D-45A9-1657-4EA9-CEB9E8979A18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5098" y="618053"/>
            <a:ext cx="1407914" cy="421600"/>
          </a:xfrm>
          <a:prstGeom prst="roundRect">
            <a:avLst>
              <a:gd name="adj" fmla="val 1787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639" y="739140"/>
            <a:ext cx="179427" cy="179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685324"/>
            <a:ext cx="869752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SOLUÇÃO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5098" y="1129308"/>
            <a:ext cx="7528441" cy="700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Agente de IA para Auditoria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5098" y="2391013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O que é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5098" y="2965728"/>
            <a:ext cx="7617143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Sistema automatizado que analisa as fotos das gôndolas e compara com o planograma oficial, gerando avaliação objetiva e ações corretivas.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5098" y="4266605"/>
            <a:ext cx="3066455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O que muda na prática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85098" y="4841319"/>
            <a:ext cx="7617143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Funcionário tira foto pelo app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85098" y="5278636"/>
            <a:ext cx="7617143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Recebe nota e </a:t>
            </a:r>
            <a:r>
              <a:rPr lang="en-US" sz="175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5098" y="5715953"/>
            <a:ext cx="7617143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Ações claras para correção imediata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5098" y="6153269"/>
            <a:ext cx="7617143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Histórico de aderência por loja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85098" y="6590586"/>
            <a:ext cx="761714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Gera correção instantanea, notificando ao funcionário onde melhorar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57072" y="2531150"/>
            <a:ext cx="4895731" cy="740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5800" dirty="0">
              <a:latin typeface="Aptos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002798" y="3551753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Padronização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957072" y="4126468"/>
            <a:ext cx="4895731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Critérios objetivos aplicados em todas as lojas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957072" y="5404961"/>
            <a:ext cx="4895731" cy="740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24/7</a:t>
            </a:r>
            <a:endParaRPr lang="en-US" sz="5800" dirty="0">
              <a:latin typeface="Aptos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002798" y="6425565"/>
            <a:ext cx="2804160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Disponibilidade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957072" y="7000280"/>
            <a:ext cx="4895731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Auditoria a qualquer momento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AEC315F-60FF-D07E-EB40-DA28AF6E37D1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137" y="557213"/>
            <a:ext cx="6434852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Como Funciona na Prática</a:t>
            </a:r>
            <a:endParaRPr lang="en-US" sz="3950" dirty="0">
              <a:latin typeface="Aptos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37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2765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1. Captura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22765" y="2236113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Funcionário fotografa a gôndola pelo aplicativo da loja</a:t>
            </a:r>
            <a:endParaRPr lang="en-US" sz="1550" dirty="0">
              <a:latin typeface="Aptos" panose="020B00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37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22765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2. Envio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122765" y="3451860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Imagem é transmitida automaticamente para o sistema</a:t>
            </a:r>
            <a:endParaRPr lang="en-US" sz="1550" dirty="0">
              <a:latin typeface="Aptos" panose="020B00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37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22765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3. Análise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122765" y="4667607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IA compara foto com planograma de referência</a:t>
            </a:r>
            <a:endParaRPr lang="en-US" sz="1550" dirty="0">
              <a:latin typeface="Aptos" panose="020B00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137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22765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4. Avaliação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122765" y="5883354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Sistema gera nota e identifica problemas específicos</a:t>
            </a:r>
            <a:endParaRPr lang="en-US" sz="1550" dirty="0">
              <a:latin typeface="Aptos" panose="020B000402020202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137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22765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5. Retorno</a:t>
            </a:r>
            <a:endParaRPr lang="en-US" sz="1950" dirty="0">
              <a:latin typeface="Aptos" panose="020B000402020202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2122765" y="7099102"/>
            <a:ext cx="1160037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Funcionário recebe diagnóstico e ações recomendadas</a:t>
            </a:r>
            <a:endParaRPr lang="en-US" sz="1550" dirty="0">
              <a:latin typeface="Aptos" panose="020B0004020202020204" pitchFamily="34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74887CC-8204-85D9-B298-8D903C43FAD7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47380" y="389692"/>
            <a:ext cx="984647" cy="280511"/>
          </a:xfrm>
          <a:prstGeom prst="roundRect">
            <a:avLst>
              <a:gd name="adj" fmla="val 16922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39653" y="439579"/>
            <a:ext cx="800100" cy="180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ARQUITETURA</a:t>
            </a:r>
            <a:endParaRPr lang="en-US" sz="85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847380" y="726638"/>
            <a:ext cx="3593187" cy="441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Estrutura do Sistema</a:t>
            </a:r>
            <a:endParaRPr lang="en-US" sz="2750" dirty="0">
              <a:latin typeface="Aptos" panose="020B0004020202020204" pitchFamily="34" charset="0"/>
            </a:endParaRPr>
          </a:p>
        </p:txBody>
      </p:sp>
      <p:pic>
        <p:nvPicPr>
          <p:cNvPr id="22" name="Picture 2" descr="Man with smartphone - Free technology icons">
            <a:extLst>
              <a:ext uri="{FF2B5EF4-FFF2-40B4-BE49-F238E27FC236}">
                <a16:creationId xmlns:a16="http://schemas.microsoft.com/office/drawing/2014/main" id="{444A751B-8AB6-1AC8-CA17-5DE97AB5A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32" y="3160560"/>
            <a:ext cx="907732" cy="90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Stand - Free commerce and shopping icons">
            <a:extLst>
              <a:ext uri="{FF2B5EF4-FFF2-40B4-BE49-F238E27FC236}">
                <a16:creationId xmlns:a16="http://schemas.microsoft.com/office/drawing/2014/main" id="{06ECD293-A70E-13F3-785B-91FCF48D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003" y="3234855"/>
            <a:ext cx="759142" cy="75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8C1A19B7-F73E-C40C-B339-DD00F5B00A39}"/>
              </a:ext>
            </a:extLst>
          </p:cNvPr>
          <p:cNvSpPr/>
          <p:nvPr/>
        </p:nvSpPr>
        <p:spPr>
          <a:xfrm>
            <a:off x="7540761" y="1510491"/>
            <a:ext cx="3909060" cy="18402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ptos" panose="020B0004020202020204" pitchFamily="34" charset="0"/>
            </a:endParaRPr>
          </a:p>
        </p:txBody>
      </p:sp>
      <p:pic>
        <p:nvPicPr>
          <p:cNvPr id="25" name="Picture 10" descr="Migração GCP | Tigabytes">
            <a:extLst>
              <a:ext uri="{FF2B5EF4-FFF2-40B4-BE49-F238E27FC236}">
                <a16:creationId xmlns:a16="http://schemas.microsoft.com/office/drawing/2014/main" id="{928CC083-6138-2E78-331F-CB116916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5434" y="1601931"/>
            <a:ext cx="560069" cy="5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6" descr="Database ">
            <a:extLst>
              <a:ext uri="{FF2B5EF4-FFF2-40B4-BE49-F238E27FC236}">
                <a16:creationId xmlns:a16="http://schemas.microsoft.com/office/drawing/2014/main" id="{65CAAFAF-C22A-DC67-0A0D-826AD861E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5338" y="2254394"/>
            <a:ext cx="695563" cy="73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7F0AE0E-800A-E1DD-66E0-A65C7BD599E5}"/>
              </a:ext>
            </a:extLst>
          </p:cNvPr>
          <p:cNvCxnSpPr>
            <a:cxnSpLocks/>
          </p:cNvCxnSpPr>
          <p:nvPr/>
        </p:nvCxnSpPr>
        <p:spPr>
          <a:xfrm flipV="1">
            <a:off x="3874282" y="2430606"/>
            <a:ext cx="3145386" cy="11087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18" descr="Google Gemini">
            <a:extLst>
              <a:ext uri="{FF2B5EF4-FFF2-40B4-BE49-F238E27FC236}">
                <a16:creationId xmlns:a16="http://schemas.microsoft.com/office/drawing/2014/main" id="{77C9D421-0B44-23E6-5455-D46EB205C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260" y="1699086"/>
            <a:ext cx="3286125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694FDC03-F6AF-C040-8775-B82A28906251}"/>
              </a:ext>
            </a:extLst>
          </p:cNvPr>
          <p:cNvCxnSpPr>
            <a:cxnSpLocks/>
          </p:cNvCxnSpPr>
          <p:nvPr/>
        </p:nvCxnSpPr>
        <p:spPr>
          <a:xfrm>
            <a:off x="8985702" y="2619201"/>
            <a:ext cx="57054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o 29">
            <a:extLst>
              <a:ext uri="{FF2B5EF4-FFF2-40B4-BE49-F238E27FC236}">
                <a16:creationId xmlns:a16="http://schemas.microsoft.com/office/drawing/2014/main" id="{4D9C40F0-E502-7722-BB1F-CCBC632F7065}"/>
              </a:ext>
            </a:extLst>
          </p:cNvPr>
          <p:cNvCxnSpPr>
            <a:cxnSpLocks/>
            <a:stCxn id="28" idx="3"/>
          </p:cNvCxnSpPr>
          <p:nvPr/>
        </p:nvCxnSpPr>
        <p:spPr>
          <a:xfrm flipH="1">
            <a:off x="9362591" y="2619201"/>
            <a:ext cx="2777794" cy="3295714"/>
          </a:xfrm>
          <a:prstGeom prst="curvedConnector4">
            <a:avLst>
              <a:gd name="adj1" fmla="val -8230"/>
              <a:gd name="adj2" fmla="val 10145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20" descr="Holding Phone Icons - Free SVG &amp; PNG Holding Phone Images - Noun Project">
            <a:extLst>
              <a:ext uri="{FF2B5EF4-FFF2-40B4-BE49-F238E27FC236}">
                <a16:creationId xmlns:a16="http://schemas.microsoft.com/office/drawing/2014/main" id="{AFBEE61E-9B23-3A1E-494F-F1079E438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57896" y="5112933"/>
            <a:ext cx="1298258" cy="129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92B71AA6-BA54-EC93-D4F9-343885FF2E98}"/>
              </a:ext>
            </a:extLst>
          </p:cNvPr>
          <p:cNvSpPr txBox="1"/>
          <p:nvPr/>
        </p:nvSpPr>
        <p:spPr>
          <a:xfrm>
            <a:off x="4449513" y="4384659"/>
            <a:ext cx="4376261" cy="2462213"/>
          </a:xfrm>
          <a:prstGeom prst="rect">
            <a:avLst/>
          </a:prstGeom>
          <a:noFill/>
          <a:ln w="22225" cap="rnd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" panose="020B0004020202020204" pitchFamily="34" charset="0"/>
              </a:rPr>
              <a:t>Produtos Faltando</a:t>
            </a:r>
          </a:p>
          <a:p>
            <a:r>
              <a:rPr lang="pt-BR" sz="1400" b="1" dirty="0">
                <a:latin typeface="Aptos" panose="020B0004020202020204" pitchFamily="34" charset="0"/>
              </a:rPr>
              <a:t>Precificação Correta</a:t>
            </a:r>
          </a:p>
          <a:p>
            <a:r>
              <a:rPr lang="pt-BR" sz="1400" b="1" dirty="0">
                <a:latin typeface="Aptos" panose="020B0004020202020204" pitchFamily="34" charset="0"/>
              </a:rPr>
              <a:t>Produtos no lugar</a:t>
            </a:r>
          </a:p>
          <a:p>
            <a:endParaRPr lang="pt-BR" sz="1400" dirty="0">
              <a:latin typeface="Aptos" panose="020B0004020202020204" pitchFamily="34" charset="0"/>
            </a:endParaRPr>
          </a:p>
          <a:p>
            <a:r>
              <a:rPr lang="pt-BR" sz="1400" b="1" dirty="0">
                <a:latin typeface="Aptos" panose="020B0004020202020204" pitchFamily="34" charset="0"/>
              </a:rPr>
              <a:t>Aderência: </a:t>
            </a:r>
            <a:r>
              <a:rPr lang="pt-BR" sz="1400" dirty="0">
                <a:latin typeface="Aptos" panose="020B0004020202020204" pitchFamily="34" charset="0"/>
              </a:rPr>
              <a:t>80%</a:t>
            </a:r>
          </a:p>
          <a:p>
            <a:endParaRPr lang="pt-BR" sz="1400" dirty="0">
              <a:latin typeface="Aptos" panose="020B0004020202020204" pitchFamily="34" charset="0"/>
            </a:endParaRPr>
          </a:p>
          <a:p>
            <a:r>
              <a:rPr lang="pt-BR" sz="1400" b="1" dirty="0">
                <a:latin typeface="Aptos" panose="020B0004020202020204" pitchFamily="34" charset="0"/>
              </a:rPr>
              <a:t>Comentário: </a:t>
            </a:r>
          </a:p>
          <a:p>
            <a:r>
              <a:rPr lang="pt-BR" sz="1400" dirty="0">
                <a:latin typeface="Aptos" panose="020B0004020202020204" pitchFamily="34" charset="0"/>
              </a:rPr>
              <a:t>Detectados 4 buracos: 2 na prateleira 2 (Linea Stevia) e 2 na prateleira 4 (Linea Adoçante). Layout e sequenciamento preservados, mas requer reposição imediata.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45C357F-A4E6-BC06-E5DD-96181899B93D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09600"/>
            <a:ext cx="5920621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Critérios de Avaliação</a:t>
            </a:r>
            <a:endParaRPr lang="en-US" sz="435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5216" y="1744623"/>
            <a:ext cx="130799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O sistema analisa três dimensões principais e gera uma nota final de 0 a 100, calculada como média ponderada: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5216" y="2348032"/>
            <a:ext cx="4212312" cy="3727371"/>
          </a:xfrm>
          <a:prstGeom prst="roundRect">
            <a:avLst>
              <a:gd name="adj" fmla="val 24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4292" y="2577108"/>
            <a:ext cx="664369" cy="664369"/>
          </a:xfrm>
          <a:prstGeom prst="roundRect">
            <a:avLst>
              <a:gd name="adj" fmla="val 1376205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6934" y="2759750"/>
            <a:ext cx="298966" cy="298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4292" y="346293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Buracos de Gôndola</a:t>
            </a:r>
            <a:endParaRPr lang="en-US" sz="215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4292" y="3941802"/>
            <a:ext cx="375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Identifica rupturas visuais e espaços vazios que indicam falta de produtos, peso de </a:t>
            </a:r>
            <a:r>
              <a:rPr lang="en-US" sz="1700" dirty="0">
                <a:solidFill>
                  <a:srgbClr val="272525"/>
                </a:solidFill>
                <a:highlight>
                  <a:srgbClr val="FFFF00"/>
                </a:highlight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45% atualmente.</a:t>
            </a:r>
            <a:endParaRPr lang="en-US" sz="1700" dirty="0">
              <a:highlight>
                <a:srgbClr val="FFFF00"/>
              </a:highlight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4292" y="5491996"/>
            <a:ext cx="3754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Nota individual:</a:t>
            </a: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0 a 100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08984" y="2348032"/>
            <a:ext cx="4212312" cy="3727371"/>
          </a:xfrm>
          <a:prstGeom prst="roundRect">
            <a:avLst>
              <a:gd name="adj" fmla="val 24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38061" y="2577108"/>
            <a:ext cx="664369" cy="664369"/>
          </a:xfrm>
          <a:prstGeom prst="roundRect">
            <a:avLst>
              <a:gd name="adj" fmla="val 1376205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0703" y="2759750"/>
            <a:ext cx="298966" cy="298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38061" y="346293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 err="1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</a:rPr>
              <a:t>Precificação</a:t>
            </a:r>
            <a:r>
              <a:rPr lang="en-US" sz="21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</a:rPr>
              <a:t> </a:t>
            </a:r>
            <a:r>
              <a:rPr lang="en-US" sz="2150" b="1" dirty="0" err="1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</a:rPr>
              <a:t>Visível</a:t>
            </a:r>
            <a:endParaRPr lang="en-US" sz="2150" dirty="0">
              <a:latin typeface="Aptos" panose="020B00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38061" y="3941802"/>
            <a:ext cx="375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Verifica se as </a:t>
            </a:r>
            <a:r>
              <a:rPr lang="en-US" sz="17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etiquetas</a:t>
            </a: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7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preço</a:t>
            </a: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estão</a:t>
            </a: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, visíveis e posicionados adequadamente, peso de </a:t>
            </a:r>
            <a:r>
              <a:rPr lang="en-US" sz="1700" dirty="0">
                <a:solidFill>
                  <a:srgbClr val="272525"/>
                </a:solidFill>
                <a:highlight>
                  <a:srgbClr val="FFFF00"/>
                </a:highlight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30% atualmente.</a:t>
            </a:r>
            <a:endParaRPr lang="en-US" sz="1700" dirty="0">
              <a:highlight>
                <a:srgbClr val="FFFF00"/>
              </a:highlight>
              <a:latin typeface="Aptos" panose="020B00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38061" y="5491996"/>
            <a:ext cx="37541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Nota individual:</a:t>
            </a: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0 a 100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642753" y="2348032"/>
            <a:ext cx="4212431" cy="3727371"/>
          </a:xfrm>
          <a:prstGeom prst="roundRect">
            <a:avLst>
              <a:gd name="adj" fmla="val 24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871829" y="2577108"/>
            <a:ext cx="664369" cy="664369"/>
          </a:xfrm>
          <a:prstGeom prst="roundRect">
            <a:avLst>
              <a:gd name="adj" fmla="val 1376205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471" y="2759750"/>
            <a:ext cx="298966" cy="298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1829" y="3462933"/>
            <a:ext cx="293131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Layout e Organização</a:t>
            </a:r>
            <a:endParaRPr lang="en-US" sz="2150" dirty="0">
              <a:latin typeface="Aptos" panose="020B00040202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9871829" y="3941802"/>
            <a:ext cx="375427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Compara disposição dos produtos com o planograma oficial de referência, peso de </a:t>
            </a:r>
            <a:r>
              <a:rPr lang="en-US" sz="1700" dirty="0">
                <a:solidFill>
                  <a:srgbClr val="272525"/>
                </a:solidFill>
                <a:highlight>
                  <a:srgbClr val="FFFF00"/>
                </a:highlight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25% atualmente.</a:t>
            </a:r>
            <a:endParaRPr lang="en-US" sz="1700" dirty="0">
              <a:highlight>
                <a:srgbClr val="FFFF00"/>
              </a:highlight>
              <a:latin typeface="Aptos" panose="020B00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9871829" y="5491996"/>
            <a:ext cx="37542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Nota individual:</a:t>
            </a:r>
            <a:r>
              <a:rPr lang="en-US" sz="1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0 a 100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75216" y="6324481"/>
            <a:ext cx="13079968" cy="1295519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72" y="6658928"/>
            <a:ext cx="276820" cy="221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94949" y="6601301"/>
            <a:ext cx="121387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Além das notas, o agente gera comentário qualitativo e sugere ações práticas para correção dos problemas identificados.</a:t>
            </a:r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DC59991-8A60-A90A-5D51-E62DC0B1FC69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C4217-6772-CFB9-4741-35EB3837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4681D1B-6CFB-A19F-7831-903D616F4774}"/>
              </a:ext>
            </a:extLst>
          </p:cNvPr>
          <p:cNvSpPr/>
          <p:nvPr/>
        </p:nvSpPr>
        <p:spPr>
          <a:xfrm>
            <a:off x="9800216" y="1702356"/>
            <a:ext cx="4516681" cy="5321249"/>
          </a:xfrm>
          <a:prstGeom prst="roundRect">
            <a:avLst>
              <a:gd name="adj" fmla="val 8569"/>
            </a:avLst>
          </a:prstGeom>
          <a:solidFill>
            <a:srgbClr val="F8F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6B27D427-C1A0-9EA5-BED5-592BA6204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226" y="1902299"/>
            <a:ext cx="1701165" cy="17011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BE54A59-E1CC-7123-9F76-9A7536A48929}"/>
              </a:ext>
            </a:extLst>
          </p:cNvPr>
          <p:cNvSpPr/>
          <p:nvPr/>
        </p:nvSpPr>
        <p:spPr>
          <a:xfrm>
            <a:off x="902791" y="330638"/>
            <a:ext cx="816412" cy="213003"/>
          </a:xfrm>
          <a:prstGeom prst="roundRect">
            <a:avLst>
              <a:gd name="adj" fmla="val 1789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373974-48D0-528B-8B4B-68C3425DFC91}"/>
              </a:ext>
            </a:extLst>
          </p:cNvPr>
          <p:cNvSpPr/>
          <p:nvPr/>
        </p:nvSpPr>
        <p:spPr>
          <a:xfrm>
            <a:off x="970776" y="364571"/>
            <a:ext cx="680442" cy="145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EXEMPLO REAL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45320E-6224-1817-7221-E304BC9531D8}"/>
              </a:ext>
            </a:extLst>
          </p:cNvPr>
          <p:cNvSpPr/>
          <p:nvPr/>
        </p:nvSpPr>
        <p:spPr>
          <a:xfrm>
            <a:off x="902791" y="589003"/>
            <a:ext cx="32168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Resultado da Avaliação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6FE243-F406-008F-280A-E01CA6C8685B}"/>
              </a:ext>
            </a:extLst>
          </p:cNvPr>
          <p:cNvSpPr/>
          <p:nvPr/>
        </p:nvSpPr>
        <p:spPr>
          <a:xfrm>
            <a:off x="590196" y="14086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Planograma Oficial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672363A-8B1D-0F80-B726-386C62030FC7}"/>
              </a:ext>
            </a:extLst>
          </p:cNvPr>
          <p:cNvSpPr/>
          <p:nvPr/>
        </p:nvSpPr>
        <p:spPr>
          <a:xfrm>
            <a:off x="5108408" y="14086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Gôndola Avaliada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30B9123-8EBD-D044-66F9-3670242EA2FE}"/>
              </a:ext>
            </a:extLst>
          </p:cNvPr>
          <p:cNvSpPr/>
          <p:nvPr/>
        </p:nvSpPr>
        <p:spPr>
          <a:xfrm>
            <a:off x="11423221" y="2611078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80%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4D94842-35C5-F13E-E526-95D1C8B02D6E}"/>
              </a:ext>
            </a:extLst>
          </p:cNvPr>
          <p:cNvSpPr/>
          <p:nvPr/>
        </p:nvSpPr>
        <p:spPr>
          <a:xfrm>
            <a:off x="11412030" y="37451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 Final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191D4F1-8095-8055-67C7-55706B21E273}"/>
              </a:ext>
            </a:extLst>
          </p:cNvPr>
          <p:cNvSpPr/>
          <p:nvPr/>
        </p:nvSpPr>
        <p:spPr>
          <a:xfrm>
            <a:off x="10396665" y="404983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Notas por Critério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85AF3A9-9F2D-D8DF-5AF2-B2BAF5FFC5E3}"/>
              </a:ext>
            </a:extLst>
          </p:cNvPr>
          <p:cNvSpPr/>
          <p:nvPr/>
        </p:nvSpPr>
        <p:spPr>
          <a:xfrm>
            <a:off x="10396665" y="4340342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Preenchimento</a:t>
            </a: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F0F2C16-0996-DAB3-87BC-C180611C1DA1}"/>
              </a:ext>
            </a:extLst>
          </p:cNvPr>
          <p:cNvSpPr/>
          <p:nvPr/>
        </p:nvSpPr>
        <p:spPr>
          <a:xfrm>
            <a:off x="10396665" y="4561441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Precificação: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A502EC0-656C-FDA7-2DB4-BDA7CF353587}"/>
              </a:ext>
            </a:extLst>
          </p:cNvPr>
          <p:cNvSpPr/>
          <p:nvPr/>
        </p:nvSpPr>
        <p:spPr>
          <a:xfrm>
            <a:off x="10396665" y="4782540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Layout/organização: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5F6E28D-CA07-2C5A-3B03-952FB15145A5}"/>
              </a:ext>
            </a:extLst>
          </p:cNvPr>
          <p:cNvSpPr/>
          <p:nvPr/>
        </p:nvSpPr>
        <p:spPr>
          <a:xfrm>
            <a:off x="10396665" y="5353564"/>
            <a:ext cx="155495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Comentário do Agente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FB1C319-121F-F2FC-5435-329D52CB0C39}"/>
              </a:ext>
            </a:extLst>
          </p:cNvPr>
          <p:cNvSpPr/>
          <p:nvPr/>
        </p:nvSpPr>
        <p:spPr>
          <a:xfrm>
            <a:off x="10566686" y="5595715"/>
            <a:ext cx="327826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Detectados 4 buracos: 2 na prateleira 2 (Linea Stevia) e 2 na prateleira 4 (Linea Sucralose). Layout e precificação estão conformes.</a:t>
            </a: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."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DC26247-59F0-BA3A-8CCC-612BD7BEF33F}"/>
              </a:ext>
            </a:extLst>
          </p:cNvPr>
          <p:cNvSpPr/>
          <p:nvPr/>
        </p:nvSpPr>
        <p:spPr>
          <a:xfrm>
            <a:off x="605436" y="358323"/>
            <a:ext cx="15240" cy="54435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23" name="Imagem 22" descr="Balcão de loja&#10;&#10;O conteúdo gerado por IA pode estar incorreto.">
            <a:extLst>
              <a:ext uri="{FF2B5EF4-FFF2-40B4-BE49-F238E27FC236}">
                <a16:creationId xmlns:a16="http://schemas.microsoft.com/office/drawing/2014/main" id="{550830E2-2167-C79A-D4D8-5C11CEB56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3" y="1702356"/>
            <a:ext cx="4363325" cy="5211395"/>
          </a:xfrm>
          <a:prstGeom prst="rect">
            <a:avLst/>
          </a:prstGeom>
        </p:spPr>
      </p:pic>
      <p:pic>
        <p:nvPicPr>
          <p:cNvPr id="24" name="Imagem 23" descr="Balcão de loja&#10;&#10;O conteúdo gerado por IA pode estar incorreto.">
            <a:extLst>
              <a:ext uri="{FF2B5EF4-FFF2-40B4-BE49-F238E27FC236}">
                <a16:creationId xmlns:a16="http://schemas.microsoft.com/office/drawing/2014/main" id="{589957D4-63D4-ED4E-7C6E-09A5C6141C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956" y="1734644"/>
            <a:ext cx="4147696" cy="521139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581D32A-900E-E244-DB33-528240DF2FCB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6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876D-FA48-8311-F1E8-240A16FE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C81FF30-C91B-E6AD-4CB8-E14112E15159}"/>
              </a:ext>
            </a:extLst>
          </p:cNvPr>
          <p:cNvSpPr/>
          <p:nvPr/>
        </p:nvSpPr>
        <p:spPr>
          <a:xfrm>
            <a:off x="9800216" y="1702356"/>
            <a:ext cx="4516681" cy="5321249"/>
          </a:xfrm>
          <a:prstGeom prst="roundRect">
            <a:avLst>
              <a:gd name="adj" fmla="val 8569"/>
            </a:avLst>
          </a:prstGeom>
          <a:solidFill>
            <a:srgbClr val="F8F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748A97B-D42F-BF12-86DB-3F7B366CF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226" y="1902299"/>
            <a:ext cx="1701165" cy="17011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1ADF75D-722F-52CD-1077-7C9C86676B72}"/>
              </a:ext>
            </a:extLst>
          </p:cNvPr>
          <p:cNvSpPr/>
          <p:nvPr/>
        </p:nvSpPr>
        <p:spPr>
          <a:xfrm>
            <a:off x="902791" y="330638"/>
            <a:ext cx="816412" cy="213003"/>
          </a:xfrm>
          <a:prstGeom prst="roundRect">
            <a:avLst>
              <a:gd name="adj" fmla="val 1789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27556F-A6E5-3A80-95BD-A42B11094CD7}"/>
              </a:ext>
            </a:extLst>
          </p:cNvPr>
          <p:cNvSpPr/>
          <p:nvPr/>
        </p:nvSpPr>
        <p:spPr>
          <a:xfrm>
            <a:off x="970776" y="364571"/>
            <a:ext cx="680442" cy="145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EXEMPLO REAL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37F230-FCB1-99A3-EBF9-8EC42E2C7663}"/>
              </a:ext>
            </a:extLst>
          </p:cNvPr>
          <p:cNvSpPr/>
          <p:nvPr/>
        </p:nvSpPr>
        <p:spPr>
          <a:xfrm>
            <a:off x="902791" y="589003"/>
            <a:ext cx="32168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Resultado da Avaliação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BE3CD4-42D7-77E6-B2AC-1F20F6654C6A}"/>
              </a:ext>
            </a:extLst>
          </p:cNvPr>
          <p:cNvSpPr/>
          <p:nvPr/>
        </p:nvSpPr>
        <p:spPr>
          <a:xfrm>
            <a:off x="590196" y="14086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Planograma Oficial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A303A8-9351-9410-E9E1-FF359339F0A3}"/>
              </a:ext>
            </a:extLst>
          </p:cNvPr>
          <p:cNvSpPr/>
          <p:nvPr/>
        </p:nvSpPr>
        <p:spPr>
          <a:xfrm>
            <a:off x="5108408" y="14086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Gôndola Avaliada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2A6B428-A349-A686-6CAF-810B84948D31}"/>
              </a:ext>
            </a:extLst>
          </p:cNvPr>
          <p:cNvSpPr/>
          <p:nvPr/>
        </p:nvSpPr>
        <p:spPr>
          <a:xfrm>
            <a:off x="11423221" y="2611078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88%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B3AB953-71D1-75D6-0875-C11F38D6F0B1}"/>
              </a:ext>
            </a:extLst>
          </p:cNvPr>
          <p:cNvSpPr/>
          <p:nvPr/>
        </p:nvSpPr>
        <p:spPr>
          <a:xfrm>
            <a:off x="11412030" y="37451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 Final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EEB9A43-AB24-3EFB-C918-3E7B642C5EF0}"/>
              </a:ext>
            </a:extLst>
          </p:cNvPr>
          <p:cNvSpPr/>
          <p:nvPr/>
        </p:nvSpPr>
        <p:spPr>
          <a:xfrm>
            <a:off x="10396665" y="404983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Notas por Critério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FB60DAA-2B45-B505-EECD-8A097AB8553F}"/>
              </a:ext>
            </a:extLst>
          </p:cNvPr>
          <p:cNvSpPr/>
          <p:nvPr/>
        </p:nvSpPr>
        <p:spPr>
          <a:xfrm>
            <a:off x="10396665" y="4340342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Preenchimento</a:t>
            </a: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A3D6C20-EB1C-879A-6856-930F5D4C4B7E}"/>
              </a:ext>
            </a:extLst>
          </p:cNvPr>
          <p:cNvSpPr/>
          <p:nvPr/>
        </p:nvSpPr>
        <p:spPr>
          <a:xfrm>
            <a:off x="10396665" y="4561441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Precificação: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77E8C8B-3A5D-6002-28E1-A780AFF843B1}"/>
              </a:ext>
            </a:extLst>
          </p:cNvPr>
          <p:cNvSpPr/>
          <p:nvPr/>
        </p:nvSpPr>
        <p:spPr>
          <a:xfrm>
            <a:off x="10396665" y="4782540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Layout/organização: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10F01DC-6595-B3C2-A0D7-6C010BC41CCE}"/>
              </a:ext>
            </a:extLst>
          </p:cNvPr>
          <p:cNvSpPr/>
          <p:nvPr/>
        </p:nvSpPr>
        <p:spPr>
          <a:xfrm>
            <a:off x="10396665" y="5344039"/>
            <a:ext cx="155495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Comentário do Agente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5490966-B581-56B1-370A-FF9455C5E12F}"/>
              </a:ext>
            </a:extLst>
          </p:cNvPr>
          <p:cNvSpPr/>
          <p:nvPr/>
        </p:nvSpPr>
        <p:spPr>
          <a:xfrm>
            <a:off x="10566686" y="5549268"/>
            <a:ext cx="327826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Detectados 8 buracos no total. Ruptura crítica de sacos 'Fit' na base e falta de 2 unidades na zona central (Sucralose). Reposição necessária.</a:t>
            </a: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2F8A4BF-7BDD-C674-7B64-0B2E2DFD2DEF}"/>
              </a:ext>
            </a:extLst>
          </p:cNvPr>
          <p:cNvSpPr/>
          <p:nvPr/>
        </p:nvSpPr>
        <p:spPr>
          <a:xfrm>
            <a:off x="605436" y="358323"/>
            <a:ext cx="15240" cy="54435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8" name="Imagem 7" descr="Prateleira com produtos&#10;&#10;O conteúdo gerado por IA pode estar incorreto.">
            <a:extLst>
              <a:ext uri="{FF2B5EF4-FFF2-40B4-BE49-F238E27FC236}">
                <a16:creationId xmlns:a16="http://schemas.microsoft.com/office/drawing/2014/main" id="{F2BA4B55-78DB-D99C-D4B5-4786FCE6B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477" y="1713090"/>
            <a:ext cx="4082681" cy="5254504"/>
          </a:xfrm>
          <a:prstGeom prst="rect">
            <a:avLst/>
          </a:prstGeom>
        </p:spPr>
      </p:pic>
      <p:pic>
        <p:nvPicPr>
          <p:cNvPr id="27" name="Imagem 26" descr="Prateleira com produtos&#10;&#10;O conteúdo gerado por IA pode estar incorreto.">
            <a:extLst>
              <a:ext uri="{FF2B5EF4-FFF2-40B4-BE49-F238E27FC236}">
                <a16:creationId xmlns:a16="http://schemas.microsoft.com/office/drawing/2014/main" id="{E5954A1B-0BAC-6194-0E55-E8036CAD8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02" y="1702357"/>
            <a:ext cx="4366073" cy="526523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104D4E8-A0C6-0342-1195-878CCA21EF16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22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A0CE-6C62-6D46-21B9-8EF18B26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EF2A9A8-B785-ED2C-5787-64EC0D12D49E}"/>
              </a:ext>
            </a:extLst>
          </p:cNvPr>
          <p:cNvSpPr/>
          <p:nvPr/>
        </p:nvSpPr>
        <p:spPr>
          <a:xfrm>
            <a:off x="9800216" y="1702356"/>
            <a:ext cx="4516681" cy="5321249"/>
          </a:xfrm>
          <a:prstGeom prst="roundRect">
            <a:avLst>
              <a:gd name="adj" fmla="val 8569"/>
            </a:avLst>
          </a:prstGeom>
          <a:solidFill>
            <a:srgbClr val="F8F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AB8028FF-1837-752B-CCEE-3D553FCC4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226" y="1902299"/>
            <a:ext cx="1701165" cy="17011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3D5092F-8421-05D7-E81D-240E3A21F9FC}"/>
              </a:ext>
            </a:extLst>
          </p:cNvPr>
          <p:cNvSpPr/>
          <p:nvPr/>
        </p:nvSpPr>
        <p:spPr>
          <a:xfrm>
            <a:off x="902791" y="330638"/>
            <a:ext cx="816412" cy="213003"/>
          </a:xfrm>
          <a:prstGeom prst="roundRect">
            <a:avLst>
              <a:gd name="adj" fmla="val 1789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8A0018-9565-BD5E-AC5E-E8C7287E0C65}"/>
              </a:ext>
            </a:extLst>
          </p:cNvPr>
          <p:cNvSpPr/>
          <p:nvPr/>
        </p:nvSpPr>
        <p:spPr>
          <a:xfrm>
            <a:off x="970776" y="364571"/>
            <a:ext cx="680442" cy="145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EXEMPLO REAL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3BC963-D7F3-853E-C3AE-D56984F7BFBA}"/>
              </a:ext>
            </a:extLst>
          </p:cNvPr>
          <p:cNvSpPr/>
          <p:nvPr/>
        </p:nvSpPr>
        <p:spPr>
          <a:xfrm>
            <a:off x="902791" y="589003"/>
            <a:ext cx="32168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Resultado da Avaliação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943DB9-5FD0-D80D-F6D8-C8160ECB325F}"/>
              </a:ext>
            </a:extLst>
          </p:cNvPr>
          <p:cNvSpPr/>
          <p:nvPr/>
        </p:nvSpPr>
        <p:spPr>
          <a:xfrm>
            <a:off x="545145" y="169009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Planograma Oficial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11E07C8-3740-750A-F475-77AAF4EB9A6B}"/>
              </a:ext>
            </a:extLst>
          </p:cNvPr>
          <p:cNvSpPr/>
          <p:nvPr/>
        </p:nvSpPr>
        <p:spPr>
          <a:xfrm>
            <a:off x="5108408" y="175105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Gôndola Avaliada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7DFE556-D9F6-71E6-13F9-C056E719FB12}"/>
              </a:ext>
            </a:extLst>
          </p:cNvPr>
          <p:cNvSpPr/>
          <p:nvPr/>
        </p:nvSpPr>
        <p:spPr>
          <a:xfrm>
            <a:off x="11423221" y="2611078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95%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8789F07-09E7-DA08-E0CA-029BE128E99A}"/>
              </a:ext>
            </a:extLst>
          </p:cNvPr>
          <p:cNvSpPr/>
          <p:nvPr/>
        </p:nvSpPr>
        <p:spPr>
          <a:xfrm>
            <a:off x="11412030" y="37451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 Final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573EC5-BCEE-EEB7-E537-EB5F0917AA4C}"/>
              </a:ext>
            </a:extLst>
          </p:cNvPr>
          <p:cNvSpPr/>
          <p:nvPr/>
        </p:nvSpPr>
        <p:spPr>
          <a:xfrm>
            <a:off x="10396665" y="404983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Notas por Critério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FB13292-59A8-07AA-4B98-9787F85D529E}"/>
              </a:ext>
            </a:extLst>
          </p:cNvPr>
          <p:cNvSpPr/>
          <p:nvPr/>
        </p:nvSpPr>
        <p:spPr>
          <a:xfrm>
            <a:off x="10396665" y="4340342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Buracos de gôndola: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FCFF6D3-2E3C-7BB7-7560-E58C7C693EC6}"/>
              </a:ext>
            </a:extLst>
          </p:cNvPr>
          <p:cNvSpPr/>
          <p:nvPr/>
        </p:nvSpPr>
        <p:spPr>
          <a:xfrm>
            <a:off x="10396665" y="4561441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Precificação: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6C868FF-A746-7AE1-FC72-F84BB5743F7F}"/>
              </a:ext>
            </a:extLst>
          </p:cNvPr>
          <p:cNvSpPr/>
          <p:nvPr/>
        </p:nvSpPr>
        <p:spPr>
          <a:xfrm>
            <a:off x="10396665" y="4782540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Layout/organização: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918C0D1-7570-FC25-3A56-F4949F8CE3AA}"/>
              </a:ext>
            </a:extLst>
          </p:cNvPr>
          <p:cNvSpPr/>
          <p:nvPr/>
        </p:nvSpPr>
        <p:spPr>
          <a:xfrm>
            <a:off x="10396665" y="5324989"/>
            <a:ext cx="155495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Comentário do Agente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D67C002-5920-D3F6-2362-9B33FA01A551}"/>
              </a:ext>
            </a:extLst>
          </p:cNvPr>
          <p:cNvSpPr/>
          <p:nvPr/>
        </p:nvSpPr>
        <p:spPr>
          <a:xfrm>
            <a:off x="10566686" y="5586360"/>
            <a:ext cx="327826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Inversão crítica de blocos: Marcas </a:t>
            </a:r>
            <a:r>
              <a:rPr lang="pt-BR" sz="14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Koleston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e L'Oreal trocadas nas prateleiras 2, 3 e 4. Corrigir base direita (</a:t>
            </a:r>
            <a:r>
              <a:rPr lang="pt-BR" sz="14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Shelf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6 )substituindo </a:t>
            </a:r>
            <a:r>
              <a:rPr lang="pt-BR" sz="14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Koleston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por L'Oreal.</a:t>
            </a: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56F4148-A721-F7CD-4DB9-6A2A88BB324B}"/>
              </a:ext>
            </a:extLst>
          </p:cNvPr>
          <p:cNvSpPr/>
          <p:nvPr/>
        </p:nvSpPr>
        <p:spPr>
          <a:xfrm>
            <a:off x="605436" y="358323"/>
            <a:ext cx="15240" cy="54435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23A984F-BD5D-CC90-A1F0-855D98693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81" y="2123719"/>
            <a:ext cx="4679249" cy="4536614"/>
          </a:xfrm>
          <a:prstGeom prst="rect">
            <a:avLst/>
          </a:prstGeom>
        </p:spPr>
      </p:pic>
      <p:pic>
        <p:nvPicPr>
          <p:cNvPr id="25" name="Imagem 24" descr="Calendário&#10;&#10;O conteúdo gerado por IA pode estar incorreto.">
            <a:extLst>
              <a:ext uri="{FF2B5EF4-FFF2-40B4-BE49-F238E27FC236}">
                <a16:creationId xmlns:a16="http://schemas.microsoft.com/office/drawing/2014/main" id="{830582D0-2615-DB7D-CFB7-4BA2DDEEB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843" y="2123719"/>
            <a:ext cx="4652382" cy="453661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49580E7-44C4-6674-80C6-0046F3EA7F71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106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8F62-DA43-FEBA-1F1E-A6E22AEC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4F0A37B-656F-E693-F7C2-A11319892208}"/>
              </a:ext>
            </a:extLst>
          </p:cNvPr>
          <p:cNvSpPr/>
          <p:nvPr/>
        </p:nvSpPr>
        <p:spPr>
          <a:xfrm>
            <a:off x="9800216" y="1702356"/>
            <a:ext cx="4516681" cy="5321249"/>
          </a:xfrm>
          <a:prstGeom prst="roundRect">
            <a:avLst>
              <a:gd name="adj" fmla="val 8569"/>
            </a:avLst>
          </a:prstGeom>
          <a:solidFill>
            <a:srgbClr val="F8F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84DE5755-A038-D82B-DC53-3F26D8738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226" y="1902299"/>
            <a:ext cx="1701165" cy="1701165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ADF65B95-F8CB-7C6D-3CE3-CB4EE17E8481}"/>
              </a:ext>
            </a:extLst>
          </p:cNvPr>
          <p:cNvSpPr/>
          <p:nvPr/>
        </p:nvSpPr>
        <p:spPr>
          <a:xfrm>
            <a:off x="902791" y="330638"/>
            <a:ext cx="816412" cy="213003"/>
          </a:xfrm>
          <a:prstGeom prst="roundRect">
            <a:avLst>
              <a:gd name="adj" fmla="val 1789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8314E7-CEE4-800B-3357-6FC6DB9BB6F1}"/>
              </a:ext>
            </a:extLst>
          </p:cNvPr>
          <p:cNvSpPr/>
          <p:nvPr/>
        </p:nvSpPr>
        <p:spPr>
          <a:xfrm>
            <a:off x="970776" y="364571"/>
            <a:ext cx="680442" cy="145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EXEMPLO REAL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EB9230-1EB1-9293-6EB2-72BBAE60B86C}"/>
              </a:ext>
            </a:extLst>
          </p:cNvPr>
          <p:cNvSpPr/>
          <p:nvPr/>
        </p:nvSpPr>
        <p:spPr>
          <a:xfrm>
            <a:off x="902791" y="589003"/>
            <a:ext cx="32168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Resultado da Avaliação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B47551-4D86-1CEB-77BD-55C5BF2C618C}"/>
              </a:ext>
            </a:extLst>
          </p:cNvPr>
          <p:cNvSpPr/>
          <p:nvPr/>
        </p:nvSpPr>
        <p:spPr>
          <a:xfrm>
            <a:off x="545145" y="169009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Planograma Oficial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14ED02-DAD0-BAB4-BF98-E06CE902DC97}"/>
              </a:ext>
            </a:extLst>
          </p:cNvPr>
          <p:cNvSpPr/>
          <p:nvPr/>
        </p:nvSpPr>
        <p:spPr>
          <a:xfrm>
            <a:off x="5108408" y="175105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Gôndola Avaliada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83EAB85-C81B-12D2-23CC-05E1C1E1AB6A}"/>
              </a:ext>
            </a:extLst>
          </p:cNvPr>
          <p:cNvSpPr/>
          <p:nvPr/>
        </p:nvSpPr>
        <p:spPr>
          <a:xfrm>
            <a:off x="11423221" y="2611078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80.7%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118D443-4029-7716-7E96-6AB0F9C2C399}"/>
              </a:ext>
            </a:extLst>
          </p:cNvPr>
          <p:cNvSpPr/>
          <p:nvPr/>
        </p:nvSpPr>
        <p:spPr>
          <a:xfrm>
            <a:off x="11412030" y="37451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 Final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C55DEC5-62D1-7B63-EA93-C7DA89236B6D}"/>
              </a:ext>
            </a:extLst>
          </p:cNvPr>
          <p:cNvSpPr/>
          <p:nvPr/>
        </p:nvSpPr>
        <p:spPr>
          <a:xfrm>
            <a:off x="10396665" y="404983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Notas por Critério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8168ED8-54B4-93CA-3026-269A04C12D95}"/>
              </a:ext>
            </a:extLst>
          </p:cNvPr>
          <p:cNvSpPr/>
          <p:nvPr/>
        </p:nvSpPr>
        <p:spPr>
          <a:xfrm>
            <a:off x="10396665" y="4340342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Buracos de gôndola: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67.6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D91D2CC-5EF6-68DD-45DA-1D60E565924B}"/>
              </a:ext>
            </a:extLst>
          </p:cNvPr>
          <p:cNvSpPr/>
          <p:nvPr/>
        </p:nvSpPr>
        <p:spPr>
          <a:xfrm>
            <a:off x="10396665" y="4561441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Precificação: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3C70990-94ED-38BB-797E-DEC73C6DB88B}"/>
              </a:ext>
            </a:extLst>
          </p:cNvPr>
          <p:cNvSpPr/>
          <p:nvPr/>
        </p:nvSpPr>
        <p:spPr>
          <a:xfrm>
            <a:off x="10396665" y="4782540"/>
            <a:ext cx="344828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Layout/organização: </a:t>
            </a:r>
            <a:r>
              <a:rPr lang="en-US" sz="1400" b="1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7829E19-D032-7FF9-A8B5-1701A04AC68F}"/>
              </a:ext>
            </a:extLst>
          </p:cNvPr>
          <p:cNvSpPr/>
          <p:nvPr/>
        </p:nvSpPr>
        <p:spPr>
          <a:xfrm>
            <a:off x="10396665" y="5324989"/>
            <a:ext cx="155495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Comentário do Agente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983CBA8-EAB1-DEB1-64F5-714C72DDD334}"/>
              </a:ext>
            </a:extLst>
          </p:cNvPr>
          <p:cNvSpPr/>
          <p:nvPr/>
        </p:nvSpPr>
        <p:spPr>
          <a:xfrm>
            <a:off x="10566686" y="5595379"/>
            <a:ext cx="3278267" cy="73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Rupturas críticas identificadas em todos os níveis. Necessário reposição imediata para eliminar buracos e garantir a integridade do </a:t>
            </a:r>
            <a:r>
              <a:rPr lang="pt-BR" sz="1400" dirty="0" err="1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planograma</a:t>
            </a:r>
            <a:r>
              <a:rPr lang="pt-BR" sz="14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”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58C4B88-CE5A-9EB6-F1D1-CAA2730132C9}"/>
              </a:ext>
            </a:extLst>
          </p:cNvPr>
          <p:cNvSpPr/>
          <p:nvPr/>
        </p:nvSpPr>
        <p:spPr>
          <a:xfrm>
            <a:off x="605436" y="358323"/>
            <a:ext cx="15240" cy="54435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8562384-453D-A419-D814-8FC600C8C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81" y="2123719"/>
            <a:ext cx="4679249" cy="4536614"/>
          </a:xfrm>
          <a:prstGeom prst="rect">
            <a:avLst/>
          </a:prstGeom>
        </p:spPr>
      </p:pic>
      <p:pic>
        <p:nvPicPr>
          <p:cNvPr id="25" name="Imagem 24" descr="Calendário&#10;&#10;O conteúdo gerado por IA pode estar incorreto.">
            <a:extLst>
              <a:ext uri="{FF2B5EF4-FFF2-40B4-BE49-F238E27FC236}">
                <a16:creationId xmlns:a16="http://schemas.microsoft.com/office/drawing/2014/main" id="{B47102E7-107C-E9AB-8CD2-9940D9095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843" y="2123719"/>
            <a:ext cx="4652382" cy="4536614"/>
          </a:xfrm>
          <a:prstGeom prst="rect">
            <a:avLst/>
          </a:prstGeom>
        </p:spPr>
      </p:pic>
      <p:pic>
        <p:nvPicPr>
          <p:cNvPr id="8" name="Imagem 7" descr="Prateleira de loja&#10;&#10;O conteúdo gerado por IA pode estar incorreto.">
            <a:extLst>
              <a:ext uri="{FF2B5EF4-FFF2-40B4-BE49-F238E27FC236}">
                <a16:creationId xmlns:a16="http://schemas.microsoft.com/office/drawing/2014/main" id="{4A41DF1E-186B-2898-ABFF-F21C1BC14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079" y="2123720"/>
            <a:ext cx="4645146" cy="453661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45E7080-F674-F558-41A8-A6D7B9D6C22F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581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2772" y="1185743"/>
            <a:ext cx="5161598" cy="443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Benefícios e Próximos Passos</a:t>
            </a:r>
            <a:endParaRPr lang="en-US" sz="2750" dirty="0">
              <a:latin typeface="Aptos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82772" y="1983462"/>
            <a:ext cx="1853922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Ganhos Operacionais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982772" y="2439888"/>
            <a:ext cx="70842" cy="70842"/>
          </a:xfrm>
          <a:prstGeom prst="roundRect">
            <a:avLst>
              <a:gd name="adj" fmla="val 6453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95417" y="2364581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Padronização Total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95417" y="2727960"/>
            <a:ext cx="41148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Mesmos critérios aplicados em todas as lojas, eliminando subjetividade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82772" y="3540502"/>
            <a:ext cx="70842" cy="70842"/>
          </a:xfrm>
          <a:prstGeom prst="roundRect">
            <a:avLst>
              <a:gd name="adj" fmla="val 6453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95417" y="3465195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Escalabilidade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5417" y="3828574"/>
            <a:ext cx="41148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Auditoria simultânea de múltiplas lojas sem aumentar o custo operacional 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82772" y="4641116"/>
            <a:ext cx="70842" cy="70842"/>
          </a:xfrm>
          <a:prstGeom prst="roundRect">
            <a:avLst>
              <a:gd name="adj" fmla="val 6453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95417" y="4565809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Feedback Imediato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95417" y="4929188"/>
            <a:ext cx="41148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Loja recebe diagnóstico em segundos e pode corrigir na hora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2772" y="5741730"/>
            <a:ext cx="70842" cy="70842"/>
          </a:xfrm>
          <a:prstGeom prst="roundRect">
            <a:avLst>
              <a:gd name="adj" fmla="val 64538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95417" y="5666423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Base de Dados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95417" y="6029801"/>
            <a:ext cx="41148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Histórico de aderência para gestão e melhoria contínua do próprio modelo, sendo retreinado com as imagens anteriores(supervisionado)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663833" y="1983462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Evolução Futura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663833" y="2364581"/>
            <a:ext cx="141803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663833" y="2590324"/>
            <a:ext cx="347769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663833" y="2691646"/>
            <a:ext cx="23089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Aprimoramento do Modelo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663833" y="3055025"/>
            <a:ext cx="34776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Refinamento contínuo da precisão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663833" y="3529965"/>
            <a:ext cx="141803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663833" y="3755708"/>
            <a:ext cx="347769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63833" y="3857030"/>
            <a:ext cx="177307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Histórico por Loja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63833" y="4220408"/>
            <a:ext cx="34776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Análise de tendências e padrões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663833" y="4695349"/>
            <a:ext cx="141803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663833" y="4921091"/>
            <a:ext cx="347769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663833" y="5022413"/>
            <a:ext cx="1775222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Alertas Automáticos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663833" y="5385792"/>
            <a:ext cx="34776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Notificações proativas de problemas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663833" y="5860733"/>
            <a:ext cx="141803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663833" y="6086475"/>
            <a:ext cx="347769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663833" y="6187797"/>
            <a:ext cx="1807964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Aptos" panose="020B0004020202020204" pitchFamily="34" charset="0"/>
                <a:ea typeface="Inter Bold" pitchFamily="34" charset="-122"/>
                <a:cs typeface="Inter Bold" pitchFamily="34" charset="-120"/>
              </a:rPr>
              <a:t>Integração Completa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663833" y="6551176"/>
            <a:ext cx="34776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Conexão com KPIs operacionais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0924123-8B06-62D0-9143-368BC4191009}"/>
              </a:ext>
            </a:extLst>
          </p:cNvPr>
          <p:cNvSpPr/>
          <p:nvPr/>
        </p:nvSpPr>
        <p:spPr>
          <a:xfrm>
            <a:off x="12609976" y="7783551"/>
            <a:ext cx="2020423" cy="446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8200</TotalTime>
  <Words>714</Words>
  <Application>Microsoft Office PowerPoint</Application>
  <PresentationFormat>Personalizar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Andre Luiz Farias Novaes</cp:lastModifiedBy>
  <cp:revision>16</cp:revision>
  <dcterms:created xsi:type="dcterms:W3CDTF">2026-01-13T13:29:49Z</dcterms:created>
  <dcterms:modified xsi:type="dcterms:W3CDTF">2026-03-17T12:28:09Z</dcterms:modified>
</cp:coreProperties>
</file>